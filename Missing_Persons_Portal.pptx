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1E6FD9">
              <a:alpha val="15000"/>
            </a:srgbClr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D4B4">
              <a:alpha val="12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Government of India  |  Ministry of Home Affairs  |  AI-Powered Missing Persons Portal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0" y="594360"/>
            <a:ext cx="914400" cy="914400"/>
          </a:xfrm>
          <a:prstGeom prst="ellipse">
            <a:avLst/>
          </a:prstGeom>
          <a:solidFill>
            <a:srgbClr val="162B55"/>
          </a:solidFill>
          <a:ln w="25400">
            <a:solidFill>
              <a:srgbClr val="00D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594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⚖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200400" y="1664208"/>
            <a:ext cx="27432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Missing Persons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Portal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2743200" y="3200400"/>
            <a:ext cx="36576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· Facial Recognition · Real-Time Alerts · CCTV Integration · Public Tips &amp; Rewards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DeepFace  ·  FastAPI Backend  ·  Next.js Frontend  ·  MongoDB Database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solidFill>
            <a:srgbClr val="00D4B4">
              <a:alpha val="9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Persons Crisis in India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3657600" cy="36576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43000"/>
            <a:ext cx="1965960" cy="1554480"/>
          </a:xfrm>
          <a:prstGeom prst="rect">
            <a:avLst/>
          </a:prstGeom>
          <a:solidFill>
            <a:srgbClr val="162B55"/>
          </a:solidFill>
          <a:ln w="19050">
            <a:solidFill>
              <a:srgbClr val="E839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143000"/>
            <a:ext cx="1965960" cy="36576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1,00,000+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11480" y="2258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per year in India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1143000"/>
            <a:ext cx="1965960" cy="1554480"/>
          </a:xfrm>
          <a:prstGeom prst="rect">
            <a:avLst/>
          </a:prstGeom>
          <a:solidFill>
            <a:srgbClr val="162B55"/>
          </a:solidFill>
          <a:ln w="19050">
            <a:solidFill>
              <a:srgbClr val="F4792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143000"/>
            <a:ext cx="196596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06040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560320" y="2258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never resolved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143000"/>
            <a:ext cx="1965960" cy="1554480"/>
          </a:xfrm>
          <a:prstGeom prst="rect">
            <a:avLst/>
          </a:prstGeom>
          <a:solidFill>
            <a:srgbClr val="162B55"/>
          </a:solidFill>
          <a:ln w="19050">
            <a:solidFill>
              <a:srgbClr val="FFB83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143000"/>
            <a:ext cx="1965960" cy="36576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0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709160" y="2258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on manual search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1143000"/>
            <a:ext cx="1965960" cy="1554480"/>
          </a:xfrm>
          <a:prstGeom prst="rect">
            <a:avLst/>
          </a:prstGeom>
          <a:solidFill>
            <a:srgbClr val="162B55"/>
          </a:solidFill>
          <a:ln w="19050">
            <a:solidFill>
              <a:srgbClr val="8BADD3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143000"/>
            <a:ext cx="1965960" cy="36576"/>
          </a:xfrm>
          <a:prstGeom prst="rect">
            <a:avLst/>
          </a:prstGeom>
          <a:solidFill>
            <a:srgbClr val="8BADD3"/>
          </a:solidFill>
          <a:ln w="12700">
            <a:solidFill>
              <a:srgbClr val="8BAD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03720" y="1737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858000" y="22585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digital system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2834640"/>
            <a:ext cx="8503920" cy="2011680"/>
          </a:xfrm>
          <a:prstGeom prst="rect">
            <a:avLst/>
          </a:prstGeom>
          <a:solidFill>
            <a:srgbClr val="0F2044"/>
          </a:solidFill>
          <a:ln w="12700">
            <a:solidFill>
              <a:srgbClr val="E839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294436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Manual paper-based FIR processes create delays and errors in tracking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330098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No real-time facial recognition across CCTV networks nationwide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6576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Siloed databases — police, hospitals, shelters don't communicate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014216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Fake AI-generated photos submitted as missing person reports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3708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 incentive system to encourage public tip submissions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solidFill>
            <a:srgbClr val="00D4B4">
              <a:alpha val="9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Complete Solution.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9875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end-to-end missing persons identification, tracking, and resolution 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298448"/>
            <a:ext cx="850392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463040"/>
            <a:ext cx="2651760" cy="1554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463040"/>
            <a:ext cx="265176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" y="21214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Face Registration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4323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photo, auto-extract features with DeepFace Facenet model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72968" y="1463040"/>
            <a:ext cx="2651760" cy="1554480"/>
          </a:xfrm>
          <a:prstGeom prst="rect">
            <a:avLst/>
          </a:prstGeom>
          <a:solidFill>
            <a:srgbClr val="0F2044"/>
          </a:solidFill>
          <a:ln w="12700">
            <a:solidFill>
              <a:srgbClr val="1E6FD9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463040"/>
            <a:ext cx="2651760" cy="36576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37560" y="21214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4323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CCTV footage — AI scans every 2-second frame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25896" y="1463040"/>
            <a:ext cx="2651760" cy="1554480"/>
          </a:xfrm>
          <a:prstGeom prst="rect">
            <a:avLst/>
          </a:prstGeom>
          <a:solidFill>
            <a:srgbClr val="0F2044"/>
          </a:solidFill>
          <a:ln w="12700">
            <a:solidFill>
              <a:srgbClr val="F4792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25896" y="1463040"/>
            <a:ext cx="265176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📹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190488" y="212140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CCTV Stream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0488" y="24323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RTSP stream monitoring 24/7 across camera network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182112"/>
            <a:ext cx="2651760" cy="1554480"/>
          </a:xfrm>
          <a:prstGeom prst="rect">
            <a:avLst/>
          </a:prstGeom>
          <a:solidFill>
            <a:srgbClr val="0F2044"/>
          </a:solidFill>
          <a:ln w="12700">
            <a:solidFill>
              <a:srgbClr val="FFB83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182112"/>
            <a:ext cx="2651760" cy="36576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84632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Camera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" y="41513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scan from any mobile device via browser camera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72968" y="3182112"/>
            <a:ext cx="2651760" cy="155448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875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72968" y="3182112"/>
            <a:ext cx="2651760" cy="36576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337560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Photo Detection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37560" y="41513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face in a crowd photo with annotated result overlay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25896" y="3182112"/>
            <a:ext cx="2651760" cy="1554480"/>
          </a:xfrm>
          <a:prstGeom prst="rect">
            <a:avLst/>
          </a:prstGeom>
          <a:solidFill>
            <a:srgbClr val="0F2044"/>
          </a:solidFill>
          <a:ln w="12700">
            <a:solidFill>
              <a:srgbClr val="E839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25896" y="3182112"/>
            <a:ext cx="2651760" cy="36576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190488" y="38404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Forensics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90488" y="415137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deepfakes/AI-generated photos before registering cases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162B55"/>
          </a:solidFill>
          <a:ln w="6350">
            <a:solidFill>
              <a:srgbClr val="8BAD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Public Tips &amp; Rewards   ·   ⚡ Real-Time Alerts   ·   📧 Email Notification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solidFill>
            <a:srgbClr val="00D4B4">
              <a:alpha val="9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8503920" cy="36576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143000"/>
            <a:ext cx="2834640" cy="3566160"/>
          </a:xfrm>
          <a:prstGeom prst="rect">
            <a:avLst/>
          </a:prstGeom>
          <a:solidFill>
            <a:srgbClr val="0F2044"/>
          </a:solidFill>
          <a:ln w="19050">
            <a:solidFill>
              <a:srgbClr val="00D4B4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143000"/>
            <a:ext cx="2834640" cy="320040"/>
          </a:xfrm>
          <a:prstGeom prst="rect">
            <a:avLst/>
          </a:prstGeom>
          <a:solidFill>
            <a:srgbClr val="00D4B4">
              <a:alpha val="85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15214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·  Next.js 14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73152" cy="73152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157276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Portal — Register &amp; Scan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2121408"/>
            <a:ext cx="73152" cy="73152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— Live Alerts &amp; Tips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" y="2596896"/>
            <a:ext cx="73152" cy="73152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25237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Rewards Portal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" y="3072384"/>
            <a:ext cx="73152" cy="73152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29992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Camera Scanner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8912" y="3547872"/>
            <a:ext cx="73152" cy="73152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" y="3474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Photo Scanner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" y="4023360"/>
            <a:ext cx="73152" cy="73152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39502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Detector Page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1143000"/>
            <a:ext cx="2834640" cy="3566160"/>
          </a:xfrm>
          <a:prstGeom prst="rect">
            <a:avLst/>
          </a:prstGeom>
          <a:solidFill>
            <a:srgbClr val="0F2044"/>
          </a:solidFill>
          <a:ln w="19050">
            <a:solidFill>
              <a:srgbClr val="1E6FD9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1143000"/>
            <a:ext cx="2834640" cy="320040"/>
          </a:xfrm>
          <a:prstGeom prst="rect">
            <a:avLst/>
          </a:prstGeom>
          <a:solidFill>
            <a:srgbClr val="1E6FD9">
              <a:alpha val="85000"/>
            </a:srgbClr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115214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·  FastAPI (Python)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10712" y="1645920"/>
            <a:ext cx="73152" cy="73152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57016" y="157276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/upload-person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10712" y="2121408"/>
            <a:ext cx="73152" cy="73152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57016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/scan-video (threaded)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10712" y="2596896"/>
            <a:ext cx="73152" cy="73152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57016" y="25237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/scan-frame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10712" y="3072384"/>
            <a:ext cx="73152" cy="73152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57016" y="29992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 /cctv/add  stream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10712" y="3547872"/>
            <a:ext cx="73152" cy="73152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57016" y="3474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/detect-ai-image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10712" y="4023360"/>
            <a:ext cx="73152" cy="73152"/>
          </a:xfrm>
          <a:prstGeom prst="ellipse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57016" y="39502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/ws/admin  live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1143000"/>
            <a:ext cx="2834640" cy="3566160"/>
          </a:xfrm>
          <a:prstGeom prst="rect">
            <a:avLst/>
          </a:prstGeom>
          <a:solidFill>
            <a:srgbClr val="0F2044"/>
          </a:solidFill>
          <a:ln w="19050">
            <a:solidFill>
              <a:srgbClr val="F4792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1143000"/>
            <a:ext cx="2834640" cy="320040"/>
          </a:xfrm>
          <a:prstGeom prst="rect">
            <a:avLst/>
          </a:prstGeom>
          <a:solidFill>
            <a:srgbClr val="F47920">
              <a:alpha val="85000"/>
            </a:srgbClr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1152144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 ·  MongoDB + DeepFace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82512" y="1645920"/>
            <a:ext cx="73152" cy="7315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28816" y="157276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collection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82512" y="2121408"/>
            <a:ext cx="73152" cy="7315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28816" y="2048256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collection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82512" y="2596896"/>
            <a:ext cx="73152" cy="7315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28816" y="252374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collection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82512" y="3072384"/>
            <a:ext cx="73152" cy="7315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8816" y="299923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collection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382512" y="3547872"/>
            <a:ext cx="73152" cy="7315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28816" y="3474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Streams collection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82512" y="4023360"/>
            <a:ext cx="73152" cy="73152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28816" y="39502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Facenet model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108960" y="2926080"/>
            <a:ext cx="137160" cy="0"/>
          </a:xfrm>
          <a:prstGeom prst="line">
            <a:avLst/>
          </a:prstGeom>
          <a:noFill/>
          <a:ln w="25400">
            <a:solidFill>
              <a:srgbClr val="00D4B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27889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B4"/>
                </a:solidFill>
              </a:rPr>
              <a:t>⟺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080760" y="278892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6FD9"/>
                </a:solidFill>
              </a:rPr>
              <a:t>⟺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solidFill>
            <a:srgbClr val="162B55"/>
          </a:solidFill>
          <a:ln w="6350">
            <a:solidFill>
              <a:srgbClr val="8BADD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68172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Python 3.11  ·  FastAPI  ·  DeepFace 0.0.93  ·  TensorFlow 2.16  ·  OpenCV  ·  Next.js 14  ·  MongoDB  ·  WebSocket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solidFill>
            <a:srgbClr val="00D4B4">
              <a:alpha val="9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Face Matching Works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850392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88720"/>
            <a:ext cx="269748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353312"/>
            <a:ext cx="347472" cy="347472"/>
          </a:xfrm>
          <a:prstGeom prst="ellipse">
            <a:avLst/>
          </a:prstGeom>
          <a:solidFill>
            <a:srgbClr val="00D4B4">
              <a:alpha val="80000"/>
            </a:srgbClr>
          </a:solidFill>
          <a:ln w="19050">
            <a:solidFill>
              <a:srgbClr val="00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1737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clear face photo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extracts 128D embedding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1188720"/>
            <a:ext cx="269748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1E6FD9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0128" y="1353312"/>
            <a:ext cx="347472" cy="347472"/>
          </a:xfrm>
          <a:prstGeom prst="ellipse">
            <a:avLst/>
          </a:prstGeom>
          <a:solidFill>
            <a:srgbClr val="1E6FD9">
              <a:alpha val="80000"/>
            </a:srgbClr>
          </a:solidFill>
          <a:ln w="19050">
            <a:solidFill>
              <a:srgbClr val="1E6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39896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Input Source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1737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/ CCTV stream / Mobile camera / Group photo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25896" y="1188720"/>
            <a:ext cx="269748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F4792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1353312"/>
            <a:ext cx="347472" cy="347472"/>
          </a:xfrm>
          <a:prstGeom prst="ellipse">
            <a:avLst/>
          </a:prstGeom>
          <a:solidFill>
            <a:srgbClr val="F47920">
              <a:alpha val="80000"/>
            </a:srgbClr>
          </a:solidFill>
          <a:ln w="19050">
            <a:solidFill>
              <a:srgbClr val="F479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92824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🎞  Frame Extraction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63056" y="1737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extracts frames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seconds (FPS-aware)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269748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FFB83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FFB830">
              <a:alpha val="80000"/>
            </a:srgbClr>
          </a:solidFill>
          <a:ln w="19050">
            <a:solidFill>
              <a:srgbClr val="FFB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6968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Face Detection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detects all faces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extracted frame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72968" y="2880360"/>
            <a:ext cx="269748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0C875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10128" y="3044952"/>
            <a:ext cx="347472" cy="347472"/>
          </a:xfrm>
          <a:prstGeom prst="ellipse">
            <a:avLst/>
          </a:prstGeom>
          <a:solidFill>
            <a:srgbClr val="00C875">
              <a:alpha val="80000"/>
            </a:srgbClr>
          </a:solidFill>
          <a:ln w="19050">
            <a:solidFill>
              <a:srgbClr val="00C8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39896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Cosine Distance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0128" y="3429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model compares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— threshold 55%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25896" y="2880360"/>
            <a:ext cx="2697480" cy="1508760"/>
          </a:xfrm>
          <a:prstGeom prst="rect">
            <a:avLst/>
          </a:prstGeom>
          <a:solidFill>
            <a:srgbClr val="0F2044"/>
          </a:solidFill>
          <a:ln w="12700">
            <a:solidFill>
              <a:srgbClr val="E839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63056" y="3044952"/>
            <a:ext cx="347472" cy="347472"/>
          </a:xfrm>
          <a:prstGeom prst="ellipse">
            <a:avLst/>
          </a:prstGeom>
          <a:solidFill>
            <a:srgbClr val="E8394A">
              <a:alpha val="80000"/>
            </a:srgbClr>
          </a:solidFill>
          <a:ln w="19050">
            <a:solidFill>
              <a:srgbClr val="E839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63056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592824" y="3063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Alert Fired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63056" y="34290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saved to DB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alert to admin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0" y="2724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continues  ↓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solidFill>
            <a:srgbClr val="00D4B4">
              <a:alpha val="9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FORENSICS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4754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Image Detector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858000" y="475488"/>
            <a:ext cx="1920240" cy="384048"/>
          </a:xfrm>
          <a:prstGeom prst="rect">
            <a:avLst/>
          </a:prstGeom>
          <a:solidFill>
            <a:srgbClr val="E8394A">
              <a:alpha val="85000"/>
            </a:srgbClr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4754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Anti-Deepfake Shield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005840"/>
            <a:ext cx="8503920" cy="36576"/>
          </a:xfrm>
          <a:prstGeom prst="rect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143000"/>
            <a:ext cx="5029200" cy="3566160"/>
          </a:xfrm>
          <a:prstGeom prst="rect">
            <a:avLst/>
          </a:prstGeom>
          <a:solidFill>
            <a:srgbClr val="0F2044"/>
          </a:solidFill>
          <a:ln w="12700">
            <a:solidFill>
              <a:srgbClr val="E839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2618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6112" y="12618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Pattern Analysis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6112" y="148132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images have unnaturally low noise std (&lt;3.5)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18013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🌊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" y="180136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Spectrum (FFT)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" y="202082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artifacts create unusual freq patterns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234086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🪞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96112" y="234086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Symmetry Check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6112" y="256032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faces are too symmetric (diff &lt;4.0)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288036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96112" y="28803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Channel Distribution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6112" y="309981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Unnaturally balanced RGB channels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341985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96112" y="341985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Uniformity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6112" y="363931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smoothing creates texture uniformity &lt;0.8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395935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✂️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96112" y="39593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Sharpness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6112" y="41788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Overly sharp edges indicate post-processing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0" y="1143000"/>
            <a:ext cx="3337560" cy="1463040"/>
          </a:xfrm>
          <a:prstGeom prst="rect">
            <a:avLst/>
          </a:prstGeom>
          <a:solidFill>
            <a:srgbClr val="E8394A">
              <a:alpha val="18000"/>
            </a:srgbClr>
          </a:solidFill>
          <a:ln w="19050">
            <a:solidFill>
              <a:srgbClr val="E8394A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77840" y="12618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LIKELY AI GENERATED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1627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Probability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77840" y="179222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7178040" y="16276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Probability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8040" y="179222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5486400" y="2743200"/>
            <a:ext cx="3337560" cy="1463040"/>
          </a:xfrm>
          <a:prstGeom prst="rect">
            <a:avLst/>
          </a:prstGeom>
          <a:solidFill>
            <a:srgbClr val="00C875">
              <a:alpha val="18000"/>
            </a:srgbClr>
          </a:solidFill>
          <a:ln w="19050">
            <a:solidFill>
              <a:srgbClr val="00C875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77840" y="286207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 PHOTOGRAPH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577840" y="3246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Clear to use in missing person report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77840" y="35661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Noise: 6.24  ·  Texture: 1.42  ·  Symmetry: 12.3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577840" y="37947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asymmetry ✔  ·  Frequency normal ✔  ·  Balanced noise ✔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0040" y="4736592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Any uploaded photo is analyzed BEFORE it enters the system — preventing fake cases from the start.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solidFill>
            <a:srgbClr val="00D4B4">
              <a:alpha val="9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ENGAGEMENT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Reward Portal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9875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public participation — tips from citizens have solved the most cases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298448"/>
            <a:ext cx="8503920" cy="36576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508760"/>
            <a:ext cx="2011680" cy="2834640"/>
          </a:xfrm>
          <a:prstGeom prst="rect">
            <a:avLst/>
          </a:prstGeom>
          <a:solidFill>
            <a:srgbClr val="0F2044"/>
          </a:solidFill>
          <a:ln w="12700">
            <a:solidFill>
              <a:srgbClr val="FFB83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51560" y="1627632"/>
            <a:ext cx="548640" cy="548640"/>
          </a:xfrm>
          <a:prstGeom prst="ellipse">
            <a:avLst/>
          </a:prstGeom>
          <a:solidFill>
            <a:srgbClr val="FFB830">
              <a:alpha val="80000"/>
            </a:srgbClr>
          </a:solidFill>
          <a:ln w="25400">
            <a:solidFill>
              <a:srgbClr val="FFB8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14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Active Cases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29768" y="318211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views all active missing persons with photos, descriptions, and reward amounts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50008" y="2697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830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496312" y="1508760"/>
            <a:ext cx="2011680" cy="2834640"/>
          </a:xfrm>
          <a:prstGeom prst="rect">
            <a:avLst/>
          </a:prstGeom>
          <a:solidFill>
            <a:srgbClr val="0F2044"/>
          </a:solidFill>
          <a:ln w="12700">
            <a:solidFill>
              <a:srgbClr val="FFB83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1627632"/>
            <a:ext cx="548640" cy="548640"/>
          </a:xfrm>
          <a:prstGeom prst="ellipse">
            <a:avLst/>
          </a:prstGeom>
          <a:solidFill>
            <a:srgbClr val="FFB830">
              <a:alpha val="80000"/>
            </a:srgbClr>
          </a:solidFill>
          <a:ln w="25400">
            <a:solidFill>
              <a:srgbClr val="FFB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82112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587752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Tip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06040" y="318211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name, phone, email, location of sighting. Optionally attach a sighting photo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26280" y="2697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830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72584" y="1508760"/>
            <a:ext cx="2011680" cy="2834640"/>
          </a:xfrm>
          <a:prstGeom prst="rect">
            <a:avLst/>
          </a:prstGeom>
          <a:solidFill>
            <a:srgbClr val="0F2044"/>
          </a:solidFill>
          <a:ln w="12700">
            <a:solidFill>
              <a:srgbClr val="FFB83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04104" y="1627632"/>
            <a:ext cx="548640" cy="548640"/>
          </a:xfrm>
          <a:prstGeom prst="ellipse">
            <a:avLst/>
          </a:prstGeom>
          <a:solidFill>
            <a:srgbClr val="FFB830">
              <a:alpha val="80000"/>
            </a:srgbClr>
          </a:solidFill>
          <a:ln w="25400">
            <a:solidFill>
              <a:srgbClr val="FFB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04104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58384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764024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82312" y="318211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receives instant alert. Can reply via Gmail SMTP with custom templates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702552" y="2697480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830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48856" y="1508760"/>
            <a:ext cx="2011680" cy="2834640"/>
          </a:xfrm>
          <a:prstGeom prst="rect">
            <a:avLst/>
          </a:prstGeom>
          <a:solidFill>
            <a:srgbClr val="0F2044"/>
          </a:solidFill>
          <a:ln w="12700">
            <a:solidFill>
              <a:srgbClr val="FFB83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80376" y="1627632"/>
            <a:ext cx="548640" cy="548640"/>
          </a:xfrm>
          <a:prstGeom prst="ellipse">
            <a:avLst/>
          </a:prstGeom>
          <a:solidFill>
            <a:srgbClr val="FFB830">
              <a:alpha val="80000"/>
            </a:srgbClr>
          </a:solidFill>
          <a:ln w="25400">
            <a:solidFill>
              <a:srgbClr val="FFB83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0376" y="1627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34656" y="22860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🏆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940296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Paid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58584" y="3182112"/>
            <a:ext cx="1792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tips get marked as Rewarded. Reward amount set per case by admin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" y="4434840"/>
            <a:ext cx="8503920" cy="548640"/>
          </a:xfrm>
          <a:prstGeom prst="rect">
            <a:avLst/>
          </a:prstGeom>
          <a:solidFill>
            <a:srgbClr val="162B55"/>
          </a:solidFill>
          <a:ln w="6350">
            <a:solidFill>
              <a:srgbClr val="8BADD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Admin can reply directly from the panel with 3 quick templates:  "Thank You"  ·  "✅ Verified + Reward Approved"  ·  "Need More Info"  —  Gmail SMTP sends real emails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solidFill>
            <a:srgbClr val="00D4B4">
              <a:alpha val="9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Control Center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8503920" cy="36576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88720"/>
            <a:ext cx="2011680" cy="3474720"/>
          </a:xfrm>
          <a:prstGeom prst="rect">
            <a:avLst/>
          </a:prstGeom>
          <a:solidFill>
            <a:srgbClr val="0F2044"/>
          </a:solidFill>
          <a:ln w="19050">
            <a:solidFill>
              <a:srgbClr val="E839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188720"/>
            <a:ext cx="2011680" cy="365760"/>
          </a:xfrm>
          <a:prstGeom prst="rect">
            <a:avLst/>
          </a:prstGeom>
          <a:solidFill>
            <a:srgbClr val="E8394A">
              <a:alpha val="80000"/>
            </a:srgbClr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Alerts Tab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828800"/>
            <a:ext cx="91440" cy="91440"/>
          </a:xfrm>
          <a:prstGeom prst="ellipse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16916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WebSocket alerts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468880"/>
            <a:ext cx="91440" cy="91440"/>
          </a:xfrm>
          <a:prstGeom prst="ellipse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3317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% display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108960"/>
            <a:ext cx="91440" cy="91440"/>
          </a:xfrm>
          <a:prstGeom prst="ellipse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29718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photo comparison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749040"/>
            <a:ext cx="91440" cy="91440"/>
          </a:xfrm>
          <a:prstGeom prst="ellipse">
            <a:avLst/>
          </a:prstGeom>
          <a:solidFill>
            <a:srgbClr val="E8394A"/>
          </a:solidFill>
          <a:ln w="12700">
            <a:solidFill>
              <a:srgbClr val="E839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6118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Mark-as-read action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96312" y="1188720"/>
            <a:ext cx="2011680" cy="3474720"/>
          </a:xfrm>
          <a:prstGeom prst="rect">
            <a:avLst/>
          </a:prstGeom>
          <a:solidFill>
            <a:srgbClr val="0F2044"/>
          </a:solidFill>
          <a:ln w="19050">
            <a:solidFill>
              <a:srgbClr val="FFB83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96312" y="1188720"/>
            <a:ext cx="2011680" cy="365760"/>
          </a:xfrm>
          <a:prstGeom prst="rect">
            <a:avLst/>
          </a:prstGeom>
          <a:solidFill>
            <a:srgbClr val="FFB830">
              <a:alpha val="8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Tips &amp; Rewards Tab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79192" y="1828800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43784" y="16916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contact info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79192" y="2468880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43784" y="23317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Sighting photo review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79192" y="3108960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43784" y="29718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Pending→Rewarded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79192" y="3749040"/>
            <a:ext cx="91440" cy="91440"/>
          </a:xfrm>
          <a:prstGeom prst="ellipse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43784" y="36118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reply with SMTP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72584" y="1188720"/>
            <a:ext cx="2011680" cy="3474720"/>
          </a:xfrm>
          <a:prstGeom prst="rect">
            <a:avLst/>
          </a:prstGeom>
          <a:solidFill>
            <a:srgbClr val="0F2044"/>
          </a:solidFill>
          <a:ln w="19050">
            <a:solidFill>
              <a:srgbClr val="00C875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72584" y="1188720"/>
            <a:ext cx="2011680" cy="365760"/>
          </a:xfrm>
          <a:prstGeom prst="rect">
            <a:avLst/>
          </a:prstGeom>
          <a:solidFill>
            <a:srgbClr val="00C875">
              <a:alpha val="80000"/>
            </a:srgbClr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64024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Matches Tab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55464" y="1828800"/>
            <a:ext cx="91440" cy="91440"/>
          </a:xfrm>
          <a:prstGeom prst="ellipse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0056" y="16916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 timestamps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55464" y="2468880"/>
            <a:ext cx="91440" cy="91440"/>
          </a:xfrm>
          <a:prstGeom prst="ellipse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0056" y="23317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stream source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55464" y="3108960"/>
            <a:ext cx="91440" cy="91440"/>
          </a:xfrm>
          <a:prstGeom prst="ellipse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718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photo annotated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55464" y="3749040"/>
            <a:ext cx="91440" cy="91440"/>
          </a:xfrm>
          <a:prstGeom prst="ellipse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0056" y="36118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camera captures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48856" y="1188720"/>
            <a:ext cx="2011680" cy="3474720"/>
          </a:xfrm>
          <a:prstGeom prst="rect">
            <a:avLst/>
          </a:prstGeom>
          <a:solidFill>
            <a:srgbClr val="0F2044"/>
          </a:solidFill>
          <a:ln w="19050">
            <a:solidFill>
              <a:srgbClr val="00D4B4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848856" y="1188720"/>
            <a:ext cx="2011680" cy="365760"/>
          </a:xfrm>
          <a:prstGeom prst="rect">
            <a:avLst/>
          </a:prstGeom>
          <a:solidFill>
            <a:srgbClr val="00D4B4">
              <a:alpha val="8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0296" y="1207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Cases Tab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031736" y="1828800"/>
            <a:ext cx="91440" cy="91440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96328" y="169164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registered persons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031736" y="2468880"/>
            <a:ext cx="91440" cy="91440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96328" y="23317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Set/update reward amount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031736" y="3108960"/>
            <a:ext cx="91440" cy="91440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96328" y="297180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reward presets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031736" y="3749040"/>
            <a:ext cx="91440" cy="91440"/>
          </a:xfrm>
          <a:prstGeom prst="ellipse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96328" y="36118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status badge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4681728"/>
            <a:ext cx="8503920" cy="320040"/>
          </a:xfrm>
          <a:prstGeom prst="rect">
            <a:avLst/>
          </a:prstGeom>
          <a:solidFill>
            <a:srgbClr val="162B55"/>
          </a:solidFill>
          <a:ln w="6350">
            <a:solidFill>
              <a:srgbClr val="8BADD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3192" y="4681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Cases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020824" y="4700016"/>
            <a:ext cx="0" cy="283464"/>
          </a:xfrm>
          <a:prstGeom prst="line">
            <a:avLst/>
          </a:prstGeom>
          <a:noFill/>
          <a:ln w="6350">
            <a:solidFill>
              <a:srgbClr val="8BADD3">
                <a:alpha val="5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93976" y="4681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Found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721608" y="4700016"/>
            <a:ext cx="0" cy="283464"/>
          </a:xfrm>
          <a:prstGeom prst="line">
            <a:avLst/>
          </a:prstGeom>
          <a:noFill/>
          <a:ln w="6350">
            <a:solidFill>
              <a:srgbClr val="8BADD3">
                <a:alpha val="5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94760" y="4681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 Alerts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422392" y="4700016"/>
            <a:ext cx="0" cy="283464"/>
          </a:xfrm>
          <a:prstGeom prst="line">
            <a:avLst/>
          </a:prstGeom>
          <a:noFill/>
          <a:ln w="6350">
            <a:solidFill>
              <a:srgbClr val="8BADD3">
                <a:alpha val="5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95544" y="4681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Received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123176" y="4700016"/>
            <a:ext cx="0" cy="283464"/>
          </a:xfrm>
          <a:prstGeom prst="line">
            <a:avLst/>
          </a:prstGeom>
          <a:noFill/>
          <a:ln w="6350">
            <a:solidFill>
              <a:srgbClr val="8BADD3">
                <a:alpha val="50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96328" y="46817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Live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solidFill>
            <a:srgbClr val="00D4B4">
              <a:alpha val="9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SYSTEM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CCTV Network Monitoring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98755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24/7 multi-camera surveillance with instant match alerts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298448"/>
            <a:ext cx="850392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508760"/>
            <a:ext cx="1508760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F4792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581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84048" y="2066544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Camera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35000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/ Network camera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47088" y="201168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792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20824" y="1508760"/>
            <a:ext cx="1508760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1E6FD9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20824" y="1581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084832" y="2066544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Capture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84832" y="235000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VideoCapture stream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47872" y="201168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6FD9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21608" y="1508760"/>
            <a:ext cx="1508760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FFB83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21608" y="1581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785616" y="2066544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Sampling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85616" y="235000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per 30 seconds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48656" y="201168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830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22392" y="1508760"/>
            <a:ext cx="1508760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0D4B4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22392" y="1581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486400" y="2066544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Scan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0" y="235000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persons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49440" y="2011680"/>
            <a:ext cx="155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B4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123176" y="1508760"/>
            <a:ext cx="1508760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E8394A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23176" y="15819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187184" y="2066544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Alert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87184" y="2350008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broadcast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0040" y="3063240"/>
            <a:ext cx="8503920" cy="1828800"/>
          </a:xfrm>
          <a:prstGeom prst="rect">
            <a:avLst/>
          </a:prstGeom>
          <a:solidFill>
            <a:srgbClr val="0F2044"/>
          </a:solidFill>
          <a:ln w="12700">
            <a:solidFill>
              <a:srgbClr val="F4792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315468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Auto-restart on stream disconnect — resilient to network drops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315468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Scans ALL registered missing persons against every captured frame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370332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Match saved with frame screenshot URL + confidence + stream name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370332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⏹  Start/Stop streams via Admin Panel — status: connecting/active/stopped/error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42519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  Each stream runs in its own daemon thread — non-blocking, concurrent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0" y="42519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Matched frames saved to /uploads/frames/ — unmatched auto-deleted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solidFill>
            <a:srgbClr val="00D4B4">
              <a:alpha val="9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850392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88720"/>
            <a:ext cx="2011680" cy="3657600"/>
          </a:xfrm>
          <a:prstGeom prst="rect">
            <a:avLst/>
          </a:prstGeom>
          <a:solidFill>
            <a:srgbClr val="0F2044"/>
          </a:solidFill>
          <a:ln w="19050">
            <a:solidFill>
              <a:srgbClr val="00D4B4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188720"/>
            <a:ext cx="2011680" cy="347472"/>
          </a:xfrm>
          <a:prstGeom prst="rect">
            <a:avLst/>
          </a:prstGeom>
          <a:solidFill>
            <a:srgbClr val="00D4B4">
              <a:alpha val="8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2070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1645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DeepFace 0.0.93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18928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verification engine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Facenet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5328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128D embedding + cosine distance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2.16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backend for DeepFace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4.9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813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decode + face detection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1.26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531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forensics matrix ops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496312" y="1188720"/>
            <a:ext cx="2011680" cy="3657600"/>
          </a:xfrm>
          <a:prstGeom prst="rect">
            <a:avLst/>
          </a:prstGeom>
          <a:solidFill>
            <a:srgbClr val="0F2044"/>
          </a:solidFill>
          <a:ln w="19050">
            <a:solidFill>
              <a:srgbClr val="1E6FD9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496312" y="1188720"/>
            <a:ext cx="2011680" cy="347472"/>
          </a:xfrm>
          <a:prstGeom prst="rect">
            <a:avLst/>
          </a:prstGeom>
          <a:solidFill>
            <a:srgbClr val="1E6FD9">
              <a:alpha val="80000"/>
            </a:srgbClr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12070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33472" y="1645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33472" y="18928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+ WebSocket API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33472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0.29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33472" y="25328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production server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33472" y="2926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PyMongo 4.6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33472" y="31729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driver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33472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33472" y="3813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video/CCTV scan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33472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smtplib + MIME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33472" y="44531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system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72584" y="1188720"/>
            <a:ext cx="2011680" cy="3657600"/>
          </a:xfrm>
          <a:prstGeom prst="rect">
            <a:avLst/>
          </a:prstGeom>
          <a:solidFill>
            <a:srgbClr val="0F2044"/>
          </a:solidFill>
          <a:ln w="19050">
            <a:solidFill>
              <a:srgbClr val="F4792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72584" y="1188720"/>
            <a:ext cx="2011680" cy="347472"/>
          </a:xfrm>
          <a:prstGeom prst="rect">
            <a:avLst/>
          </a:prstGeom>
          <a:solidFill>
            <a:srgbClr val="F47920">
              <a:alpha val="80000"/>
            </a:srgbClr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64024" y="12070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9744" y="1645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9744" y="18928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 with App Router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09744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09744" y="25328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components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09744" y="2926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09744" y="31729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client with FormData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09744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API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809744" y="3813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connection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9744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MediaDevices API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09744" y="44531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camera access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848856" y="1188720"/>
            <a:ext cx="2011680" cy="3657600"/>
          </a:xfrm>
          <a:prstGeom prst="rect">
            <a:avLst/>
          </a:prstGeom>
          <a:solidFill>
            <a:srgbClr val="0F2044"/>
          </a:solidFill>
          <a:ln w="19050">
            <a:solidFill>
              <a:srgbClr val="FFB83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848856" y="1188720"/>
            <a:ext cx="2011680" cy="347472"/>
          </a:xfrm>
          <a:prstGeom prst="rect">
            <a:avLst/>
          </a:prstGeom>
          <a:solidFill>
            <a:srgbClr val="FFB830">
              <a:alpha val="80000"/>
            </a:srgbClr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0296" y="12070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Infra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986016" y="1645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86016" y="189280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collections, document store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86016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Python-multipart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86016" y="25328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handling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986016" y="29260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StaticFiles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986016" y="31729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uploaded media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986016" y="35661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986016" y="381304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986016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986016" y="44531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Frontend-backend bridge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solidFill>
            <a:srgbClr val="00D4B4">
              <a:alpha val="9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060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8503920" cy="36576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88720"/>
            <a:ext cx="1965960" cy="1554480"/>
          </a:xfrm>
          <a:prstGeom prst="rect">
            <a:avLst/>
          </a:prstGeom>
          <a:solidFill>
            <a:srgbClr val="162B55"/>
          </a:solidFill>
          <a:ln w="19050">
            <a:solidFill>
              <a:srgbClr val="00D4B4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188720"/>
            <a:ext cx="196596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sec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11480" y="2304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scan interval in video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1188720"/>
            <a:ext cx="1965960" cy="1554480"/>
          </a:xfrm>
          <a:prstGeom prst="rect">
            <a:avLst/>
          </a:prstGeom>
          <a:solidFill>
            <a:srgbClr val="162B55"/>
          </a:solidFill>
          <a:ln w="19050">
            <a:solidFill>
              <a:srgbClr val="1E6FD9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188720"/>
            <a:ext cx="1965960" cy="36576"/>
          </a:xfrm>
          <a:prstGeom prst="rect">
            <a:avLst/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0604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0604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55%+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2560320" y="2304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for match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188720"/>
            <a:ext cx="1965960" cy="1554480"/>
          </a:xfrm>
          <a:prstGeom prst="rect">
            <a:avLst/>
          </a:prstGeom>
          <a:solidFill>
            <a:srgbClr val="162B55"/>
          </a:solidFill>
          <a:ln w="19050">
            <a:solidFill>
              <a:srgbClr val="F4792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188720"/>
            <a:ext cx="196596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75488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709160" y="2304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CCTV streams supported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1188720"/>
            <a:ext cx="1965960" cy="1554480"/>
          </a:xfrm>
          <a:prstGeom prst="rect">
            <a:avLst/>
          </a:prstGeom>
          <a:solidFill>
            <a:srgbClr val="162B55"/>
          </a:solidFill>
          <a:ln w="19050">
            <a:solidFill>
              <a:srgbClr val="FFB830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188720"/>
            <a:ext cx="1965960" cy="36576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0372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min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858000" y="230428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register a new case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2834640"/>
            <a:ext cx="4114800" cy="1920240"/>
          </a:xfrm>
          <a:prstGeom prst="rect">
            <a:avLst/>
          </a:prstGeom>
          <a:solidFill>
            <a:srgbClr val="E8394A">
              <a:alpha val="15000"/>
            </a:srgbClr>
          </a:solidFill>
          <a:ln w="19050">
            <a:solidFill>
              <a:srgbClr val="E839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THIS SYSTEM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2278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photo comparison — hours per case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5021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cross-system alert when person is spotted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377647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Fake AI photos accepted into the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05079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Citizens have no way to report sightings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32511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reward incentive for public participation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2834640"/>
            <a:ext cx="4114800" cy="1920240"/>
          </a:xfrm>
          <a:prstGeom prst="rect">
            <a:avLst/>
          </a:prstGeom>
          <a:solidFill>
            <a:srgbClr val="00C875">
              <a:alpha val="15000"/>
            </a:srgbClr>
          </a:solidFill>
          <a:ln w="19050">
            <a:solidFill>
              <a:srgbClr val="00C8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THIS SYSTEM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322783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scans full video in minutes — every frame checked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5021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 WebSocket alert with confidence score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377647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6-point forensics analysis blocks fake photos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405079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Public portal with photo + location tip submission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432511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Reward system drives volunteer citizen engagement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51960" y="3520440"/>
            <a:ext cx="457200" cy="457200"/>
          </a:xfrm>
          <a:prstGeom prst="ellipse">
            <a:avLst/>
          </a:prstGeom>
          <a:solidFill>
            <a:srgbClr val="162B55"/>
          </a:solidFill>
          <a:ln w="12700">
            <a:solidFill>
              <a:srgbClr val="8BADD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3810">
            <a:solidFill>
              <a:srgbClr val="1E6FD9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D4B4">
              <a:alpha val="1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162B55"/>
          </a:solidFill>
          <a:ln w="12700">
            <a:solidFill>
              <a:srgbClr val="162B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 National Missing Persons Identification Portal  |  Ministry of Home Affairs, Government of India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smarter, faster path to finding those who are missing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1600200"/>
            <a:ext cx="4572000" cy="36576"/>
          </a:xfrm>
          <a:prstGeom prst="rect">
            <a:avLst/>
          </a:prstGeom>
          <a:solidFill>
            <a:srgbClr val="00D4B4"/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11096"/>
            <a:ext cx="274320" cy="274320"/>
          </a:xfrm>
          <a:prstGeom prst="ellipse">
            <a:avLst/>
          </a:prstGeom>
          <a:solidFill>
            <a:srgbClr val="00D4B4">
              <a:alpha val="3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18288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face matching with DeepFace Facenet (cosine distance)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911096"/>
            <a:ext cx="274320" cy="274320"/>
          </a:xfrm>
          <a:prstGeom prst="ellipse">
            <a:avLst/>
          </a:prstGeom>
          <a:solidFill>
            <a:srgbClr val="00D4B4">
              <a:alpha val="3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9110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📹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93792" y="18288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CCTV + video + mobile + group photo scanning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9464"/>
            <a:ext cx="274320" cy="274320"/>
          </a:xfrm>
          <a:prstGeom prst="ellipse">
            <a:avLst/>
          </a:prstGeom>
          <a:solidFill>
            <a:srgbClr val="00D4B4">
              <a:alpha val="3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" y="24871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6-method forensics to block deepfake/AI-generated images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569464"/>
            <a:ext cx="274320" cy="274320"/>
          </a:xfrm>
          <a:prstGeom prst="ellipse">
            <a:avLst/>
          </a:prstGeom>
          <a:solidFill>
            <a:srgbClr val="00D4B4">
              <a:alpha val="3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93792" y="24871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tips with reward system and admin email replies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27832"/>
            <a:ext cx="274320" cy="274320"/>
          </a:xfrm>
          <a:prstGeom prst="ellipse">
            <a:avLst/>
          </a:prstGeom>
          <a:solidFill>
            <a:srgbClr val="00D4B4">
              <a:alpha val="3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" y="31455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WebSocket alerts to admin panel — zero delay on match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227832"/>
            <a:ext cx="274320" cy="274320"/>
          </a:xfrm>
          <a:prstGeom prst="ellipse">
            <a:avLst/>
          </a:prstGeom>
          <a:solidFill>
            <a:srgbClr val="00D4B4">
              <a:alpha val="30000"/>
            </a:srgbClr>
          </a:solidFill>
          <a:ln w="12700">
            <a:solidFill>
              <a:srgbClr val="00D4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27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🗃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93792" y="314553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· Next.js 14 · MongoDB · TensorFlow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00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Helpline: 112  |  Missing Persons Hotline: 1800-XXX-XXXX  |  Ministry of Home Affairs, Government of India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A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Missing Persons Identification Portal</dc:title>
  <dc:subject>PptxGenJS Presentation</dc:subject>
  <dc:creator>MHA - Government of India</dc:creator>
  <cp:lastModifiedBy>MHA - Government of India</cp:lastModifiedBy>
  <cp:revision>1</cp:revision>
  <dcterms:created xsi:type="dcterms:W3CDTF">2026-03-14T16:21:11Z</dcterms:created>
  <dcterms:modified xsi:type="dcterms:W3CDTF">2026-03-14T16:21:11Z</dcterms:modified>
</cp:coreProperties>
</file>